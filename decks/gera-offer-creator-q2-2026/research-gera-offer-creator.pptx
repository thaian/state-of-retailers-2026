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Orchestration breadth</c:v>
                </c:pt>
              </c:strCache>
            </c:strRef>
          </c:tx>
          <c:spPr>
            <a:solidFill>
              <a:srgbClr val="111111"/>
            </a:solidFill>
            <a:ln w="28575">
              <a:solidFill>
                <a:srgbClr val="111111"/>
              </a:solidFill>
            </a:ln>
          </c:spPr>
          <c:cat>
            <c:strRef>
              <c:f>Sheet1!$A$2:$A$6</c:f>
              <c:strCache>
                <c:ptCount val="5"/>
                <c:pt idx="0">
                  <c:v>BEES</c:v>
                </c:pt>
                <c:pt idx="1">
                  <c:v>Gera</c:v>
                </c:pt>
                <c:pt idx="2">
                  <c:v>VTEX</c:v>
                </c:pt>
                <c:pt idx="3">
                  <c:v>Yalo</c:v>
                </c:pt>
                <c:pt idx="4">
                  <c:v>TudoFarma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3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4114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8AD8"/>
                </a:solidFill>
                <a:latin typeface="Work Sans Medium"/>
              </a:rPr>
              <a:t>RESEARCH / BEES ONE / OFFER CREATOR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123444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i="0">
                <a:solidFill>
                  <a:srgbClr val="111111"/>
                </a:solidFill>
                <a:latin typeface="Barlow Condensed Medium"/>
              </a:rPr>
              <a:t>Offer management is a system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9718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666666"/>
                </a:solidFill>
                <a:latin typeface="Work Sans Light"/>
              </a:rPr>
              <a:t>What posture should BEES take toward promotion orchestration?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8641080" y="1143000"/>
            <a:ext cx="2971800" cy="3749039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77800" tIns="254000"/>
          <a:lstStyle/>
          <a:p>
            <a:pPr algn="ctr">
              <a:spcAft>
                <a:spcPts val="1400"/>
              </a:spcAft>
            </a:pPr>
            <a:r>
              <a:rPr sz="1100" b="0" i="0">
                <a:solidFill>
                  <a:srgbClr val="FFFFFF"/>
                </a:solidFill>
                <a:latin typeface="Work Sans Medium"/>
              </a:rPr>
              <a:t>Desk research and capability benchmark</a:t>
            </a:r>
          </a:p>
          <a:p>
            <a:pPr>
              <a:spcAft>
                <a:spcPts val="1400"/>
              </a:spcAft>
            </a:pPr>
            <a:r>
              <a:rPr sz="1100" b="0" i="0">
                <a:solidFill>
                  <a:srgbClr val="FFFFFF"/>
                </a:solidFill>
                <a:latin typeface="Work Sans Medium"/>
              </a:rPr>
              <a:t>4 external players + BEES Offer Creator</a:t>
            </a:r>
          </a:p>
          <a:p>
            <a:pPr>
              <a:spcAft>
                <a:spcPts val="1400"/>
              </a:spcAft>
            </a:pPr>
            <a:r>
              <a:rPr sz="1100" b="0" i="0">
                <a:solidFill>
                  <a:srgbClr val="FFFFFF"/>
                </a:solidFill>
                <a:latin typeface="Work Sans Medium"/>
              </a:rPr>
              <a:t>Q2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5303520"/>
            <a:ext cx="7680960" cy="64008"/>
          </a:xfrm>
          <a:prstGeom prst="rect">
            <a:avLst/>
          </a:prstGeom>
          <a:solidFill>
            <a:srgbClr val="FF8AD8"/>
          </a:solidFill>
          <a:ln w="6350">
            <a:solidFill>
              <a:srgbClr val="FF8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557784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11111"/>
                </a:solidFill>
                <a:latin typeface="Work Sans Medium"/>
              </a:rPr>
              <a:t>Corpus research readout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[Research] [One] Gera and Offer Creating Tools Benchmark | Q2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FF8AD8"/>
                </a:solidFill>
                <a:latin typeface="Work Sans Medium"/>
              </a:rPr>
              <a:t>READOUT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75488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17320"/>
            <a:ext cx="11018520" cy="18288"/>
          </a:xfrm>
          <a:prstGeom prst="rect">
            <a:avLst/>
          </a:prstGeom>
          <a:solidFill>
            <a:srgbClr val="CBD4EA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475488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DF6F"/>
                </a:solidFill>
                <a:latin typeface="Barlow Condensed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01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111111"/>
                </a:solidFill>
                <a:latin typeface="Barlow Condensed Medium"/>
              </a:rPr>
              <a:t>Offer management is a system problem, not only a tool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18105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Promotions connect manufacturer strategy, distributor execution, sales-rep incentives, channel visibility, and ROI.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221991"/>
            <a:ext cx="9509760" cy="10972"/>
          </a:xfrm>
          <a:prstGeom prst="rect">
            <a:avLst/>
          </a:prstGeom>
          <a:solidFill>
            <a:srgbClr val="CBD4EA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377440"/>
            <a:ext cx="475488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DF6F"/>
                </a:solidFill>
                <a:latin typeface="Barlow Condensed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957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111111"/>
                </a:solidFill>
                <a:latin typeface="Barlow Condensed Medium"/>
              </a:rPr>
              <a:t>The benchmark compares four operating models around promotion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4048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The right solution depends on who owns rules, integration, execution, and measurement.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816352"/>
            <a:ext cx="9509760" cy="10972"/>
          </a:xfrm>
          <a:prstGeom prst="rect">
            <a:avLst/>
          </a:prstGeom>
          <a:solidFill>
            <a:srgbClr val="CBD4EA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971800"/>
            <a:ext cx="475488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DF6F"/>
                </a:solidFill>
                <a:latin typeface="Barlow Condensed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90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111111"/>
                </a:solidFill>
                <a:latin typeface="Barlow Condensed Medium"/>
              </a:rPr>
              <a:t>Gera is the only benchmarked player positioned as a full indirect-channel orchestrator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99923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The differentiation is not offer creation alone; it is coordination across actors and systems.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410712"/>
            <a:ext cx="9509760" cy="10972"/>
          </a:xfrm>
          <a:prstGeom prst="rect">
            <a:avLst/>
          </a:prstGeom>
          <a:solidFill>
            <a:srgbClr val="CBD4EA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566160"/>
            <a:ext cx="475488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DF6F"/>
                </a:solidFill>
                <a:latin typeface="Barlow Condensed Medium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84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111111"/>
                </a:solidFill>
                <a:latin typeface="Barlow Condensed Medium"/>
              </a:rPr>
              <a:t>BEES Offer Creator is useful where the channel is the execution 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5935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The native tool remains relevant, but its boundaries become visible when partners run multiple systems.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005072"/>
            <a:ext cx="9509760" cy="10972"/>
          </a:xfrm>
          <a:prstGeom prst="rect">
            <a:avLst/>
          </a:prstGeom>
          <a:solidFill>
            <a:srgbClr val="CBD4EA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160520"/>
            <a:ext cx="475488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DF6F"/>
                </a:solidFill>
                <a:latin typeface="Barlow Condensed Medium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78807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111111"/>
                </a:solidFill>
                <a:latin typeface="Barlow Condensed Medium"/>
              </a:rPr>
              <a:t>The current Offer Creator workflow stops at offer publication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187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The missing visibility is what happens across ERP, distributor, sales force, and performance systems.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599431"/>
            <a:ext cx="9509760" cy="10972"/>
          </a:xfrm>
          <a:prstGeom prst="rect">
            <a:avLst/>
          </a:prstGeom>
          <a:solidFill>
            <a:srgbClr val="CBD4EA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754880"/>
            <a:ext cx="475488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DF6F"/>
                </a:solidFill>
                <a:latin typeface="Barlow Condensed Medium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7731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111111"/>
                </a:solidFill>
                <a:latin typeface="Barlow Condensed Medium"/>
              </a:rPr>
              <a:t>Gera’s strength is the connected commercial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7823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Its promise spans planning, eligibility, distributor governance, field execution, and analytics.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[Research] [One] Gera and Offer Creating Tools Benchmark | Q2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FF8AD8"/>
                </a:solidFill>
                <a:latin typeface="Work Sans Medium"/>
              </a:rPr>
              <a:t>EXECUTIVE READOUT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75488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17320"/>
            <a:ext cx="11018520" cy="18288"/>
          </a:xfrm>
          <a:prstGeom prst="rect">
            <a:avLst/>
          </a:prstGeom>
          <a:solidFill>
            <a:srgbClr val="CBD4EA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4663440" cy="356616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tIns="254000"/>
          <a:lstStyle/>
          <a:p>
            <a:pPr algn="ctr"/>
            <a:r>
              <a:rPr sz="1000" b="0" i="0">
                <a:solidFill>
                  <a:srgbClr val="FFDF6F"/>
                </a:solidFill>
                <a:latin typeface="Work Sans Medium"/>
              </a:rPr>
              <a:t>THE READ</a:t>
            </a:r>
          </a:p>
          <a:p>
            <a:pPr>
              <a:spcBef>
                <a:spcPts val="1800"/>
              </a:spcBef>
            </a:pPr>
            <a:r>
              <a:rPr sz="2100" b="0" i="0">
                <a:solidFill>
                  <a:srgbClr val="FFFFFF"/>
                </a:solidFill>
                <a:latin typeface="Barlow Condensed Medium"/>
              </a:rPr>
              <a:t>The benchmark shifts the question from improving Offer Creator usability to deciding how BEES should participate in a broader promotion-orchestration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828800"/>
            <a:ext cx="553212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06440" y="1828800"/>
            <a:ext cx="73152" cy="658368"/>
          </a:xfrm>
          <a:prstGeom prst="rect">
            <a:avLst/>
          </a:prstGeom>
          <a:solidFill>
            <a:srgbClr val="FF8AD8"/>
          </a:solidFill>
          <a:ln w="6350">
            <a:solidFill>
              <a:srgbClr val="FF8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95681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111111"/>
                </a:solidFill>
                <a:latin typeface="Work Sans Medium"/>
              </a:rPr>
              <a:t>Gera combines promotion calendars, portfolio management, BI, distributor acceptance, and sales-force incentives.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2697480"/>
            <a:ext cx="553212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2697480"/>
            <a:ext cx="73152" cy="658368"/>
          </a:xfrm>
          <a:prstGeom prst="rect">
            <a:avLst/>
          </a:prstGeom>
          <a:solidFill>
            <a:srgbClr val="ADEEE2"/>
          </a:solidFill>
          <a:ln w="6350">
            <a:solidFill>
              <a:srgbClr val="ADE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82549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111111"/>
                </a:solidFill>
                <a:latin typeface="Work Sans Medium"/>
              </a:rPr>
              <a:t>BEES Offer Creator is a channel-native execution tool, but it does not replace a central orchestration layer.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3566160"/>
            <a:ext cx="553212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06440" y="3566160"/>
            <a:ext cx="73152" cy="658368"/>
          </a:xfrm>
          <a:prstGeom prst="rect">
            <a:avLst/>
          </a:prstGeom>
          <a:solidFill>
            <a:srgbClr val="FFDF6F"/>
          </a:solidFill>
          <a:ln w="6350">
            <a:solidFill>
              <a:srgbClr val="FFD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69417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111111"/>
                </a:solidFill>
                <a:latin typeface="Work Sans Medium"/>
              </a:rPr>
              <a:t>VTEX and TudoFarma demonstrate faster or simpler native creation; Yalo demonstrates the value of a front-end conversational layer.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4434840"/>
            <a:ext cx="553212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4434840"/>
            <a:ext cx="73152" cy="658368"/>
          </a:xfrm>
          <a:prstGeom prst="rect">
            <a:avLst/>
          </a:prstGeom>
          <a:solidFill>
            <a:srgbClr val="FFC5C6"/>
          </a:solidFill>
          <a:ln w="6350">
            <a:solidFill>
              <a:srgbClr val="FFC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62855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111111"/>
                </a:solidFill>
                <a:latin typeface="Work Sans Medium"/>
              </a:rPr>
              <a:t>The strategic decision is whether BEES should integrate, compete, or explore a corporate transaction.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[Research] [One] Gera and Offer Creating Tools Benchmark | Q2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49808"/>
            <a:ext cx="10881360" cy="507492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23444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800" b="0" i="0">
                <a:solidFill>
                  <a:srgbClr val="FFDF6F"/>
                </a:solidFill>
                <a:latin typeface="Barlow Condensed Medium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FINDINGS AND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7180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0" i="0">
                <a:solidFill>
                  <a:srgbClr val="FFFFFF"/>
                </a:solidFill>
                <a:latin typeface="Barlow Condensed Medium"/>
              </a:rPr>
              <a:t>Research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51960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Work Sans Light"/>
              </a:rPr>
              <a:t>What the research revealed and what it means.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[Research] [One] Gera and Offer Creating Tools Benchmark | Q2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Medium"/>
              </a:rPr>
              <a:t>EVIDENCE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Offer management is a system problem, not only a tool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Promotions connect manufacturer strategy, distributor execution, sales-rep incentives, channel visibility, and ROI.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5486400" cy="3886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Gera combines promotion calendars, portfolio management, sales-force incentives, and BI.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07208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BEES Offer Creator creates offers inside the BEES ecosystem but does not replace every upstream ERP or orchestration need.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65576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75888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Strategic partners may operate BEES, Gera, VTEX, Yalo, and ERP tools simultaneously.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828800"/>
            <a:ext cx="5212080" cy="3886200"/>
          </a:xfrm>
          <a:prstGeom prst="rect">
            <a:avLst/>
          </a:prstGeom>
          <a:solidFill>
            <a:srgbClr val="000000"/>
          </a:solidFill>
          <a:ln w="5715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2148840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DF6F"/>
                </a:solidFill>
                <a:latin typeface="Barlow Condensed Medium"/>
              </a:rPr>
              <a:t>What this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606040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FFFFFF"/>
                </a:solidFill>
                <a:latin typeface="Barlow Condensed Medium"/>
              </a:rPr>
              <a:t>Decide BEES posture at ecosystem level before expanding Offer Creator feature scope.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406908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427939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Gera combines promotion calendars, portfolio management, sales-force incentives, and BI.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72744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937760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BEES Offer Creator creates offers inside the BEES ecosystem but does not replace every upstream ERP or orchestration need.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5385816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5596128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Strategic partners may operate BEES, Gera, VTEX, Yalo, and ERP tools simultaneously.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Executive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Medium"/>
              </a:rPr>
              <a:t>METHOD /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The benchmark compares four operating models around promotion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" y="1975104"/>
            <a:ext cx="3063240" cy="3127248"/>
          </a:xfrm>
          <a:prstGeom prst="round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901952"/>
            <a:ext cx="3063240" cy="841248"/>
          </a:xfrm>
          <a:prstGeom prst="roundRect">
            <a:avLst/>
          </a:prstGeom>
          <a:solidFill>
            <a:srgbClr val="A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743200"/>
            <a:ext cx="3063240" cy="2286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71800" y="1737360"/>
            <a:ext cx="530352" cy="42062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/>
          <a:lstStyle/>
          <a:p>
            <a:pPr algn="ctr"/>
            <a:r>
              <a:rPr sz="1500" b="0" i="0">
                <a:solidFill>
                  <a:srgbClr val="FFDF6F"/>
                </a:solidFill>
                <a:latin typeface="Work Sans Medium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111111"/>
                </a:solidFill>
                <a:latin typeface="Barlow Condensed Medium"/>
              </a:rPr>
              <a:t>ERP-led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2316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11111"/>
                </a:solidFill>
                <a:latin typeface="Work Sans Medium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017520"/>
            <a:ext cx="2697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Work Sans Light"/>
              </a:rPr>
              <a:t>— Centralized data and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75887"/>
            <a:ext cx="2697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Work Sans Light"/>
              </a:rPr>
              <a:t>— Strong auditability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334255"/>
            <a:ext cx="2697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Work Sans Light"/>
              </a:rPr>
              <a:t>— Harder indirect-channel integration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2093976"/>
            <a:ext cx="566928" cy="22860"/>
          </a:xfrm>
          <a:prstGeom prst="rect">
            <a:avLst/>
          </a:prstGeom>
          <a:solidFill>
            <a:srgbClr val="FFD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05656" y="1975104"/>
            <a:ext cx="3063240" cy="3127248"/>
          </a:xfrm>
          <a:prstGeom prst="round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41648" y="1901952"/>
            <a:ext cx="3063240" cy="841248"/>
          </a:xfrm>
          <a:prstGeom prst="roundRect">
            <a:avLst/>
          </a:prstGeom>
          <a:solidFill>
            <a:srgbClr val="FFD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41648" y="2743200"/>
            <a:ext cx="3063240" cy="2286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1737360"/>
            <a:ext cx="530352" cy="42062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/>
          <a:lstStyle/>
          <a:p>
            <a:pPr algn="ctr"/>
            <a:r>
              <a:rPr sz="1500" b="0" i="0">
                <a:solidFill>
                  <a:srgbClr val="FFDF6F"/>
                </a:solidFill>
                <a:latin typeface="Work Sans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084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111111"/>
                </a:solidFill>
                <a:latin typeface="Barlow Condensed Medium"/>
              </a:rPr>
              <a:t>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42316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11111"/>
                </a:solidFill>
                <a:latin typeface="Work Sans Medium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017520"/>
            <a:ext cx="2697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Work Sans Light"/>
              </a:rPr>
              <a:t>— Cross-system rules and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3675887"/>
            <a:ext cx="2697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Work Sans Light"/>
              </a:rPr>
              <a:t>— Distributor accept/reject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4334255"/>
            <a:ext cx="2697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Work Sans Light"/>
              </a:rPr>
              <a:t>— Calendar, portfolio, BI, incentives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30568" y="2093976"/>
            <a:ext cx="566928" cy="22860"/>
          </a:xfrm>
          <a:prstGeom prst="rect">
            <a:avLst/>
          </a:prstGeom>
          <a:solidFill>
            <a:srgbClr val="FFD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0376" y="1975104"/>
            <a:ext cx="3063240" cy="3127248"/>
          </a:xfrm>
          <a:prstGeom prst="round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16368" y="1901952"/>
            <a:ext cx="3063240" cy="841248"/>
          </a:xfrm>
          <a:prstGeom prst="roundRect">
            <a:avLst/>
          </a:prstGeom>
          <a:solidFill>
            <a:srgbClr val="FF8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16368" y="2743200"/>
            <a:ext cx="3063240" cy="2286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21240" y="1737360"/>
            <a:ext cx="530352" cy="42062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/>
          <a:lstStyle/>
          <a:p>
            <a:pPr algn="ctr"/>
            <a:r>
              <a:rPr sz="1500" b="0" i="0">
                <a:solidFill>
                  <a:srgbClr val="FFDF6F"/>
                </a:solidFill>
                <a:latin typeface="Work Sans Medium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2084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111111"/>
                </a:solidFill>
                <a:latin typeface="Barlow Condensed Medium"/>
              </a:rPr>
              <a:t>Native channel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242316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11111"/>
                </a:solidFill>
                <a:latin typeface="Work Sans Medium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3017520"/>
            <a:ext cx="2697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Work Sans Light"/>
              </a:rPr>
              <a:t>— Fast channel-specific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3675887"/>
            <a:ext cx="2697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Work Sans Light"/>
              </a:rPr>
              <a:t>— Simple for smaller 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4334255"/>
            <a:ext cx="2697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Work Sans Light"/>
              </a:rPr>
              <a:t>— Fragments governance as footprint grows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074920"/>
            <a:ext cx="10744200" cy="713232"/>
          </a:xfrm>
          <a:prstGeom prst="rect">
            <a:avLst/>
          </a:prstGeom>
          <a:solidFill>
            <a:srgbClr val="000000"/>
          </a:solidFill>
          <a:ln w="5715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28523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Work Sans Medium"/>
              </a:rPr>
              <a:t>Desk research and public capability evidence; claims about delivery, latency, and usability require direct user or platform validation.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Context and operating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773936"/>
            <a:ext cx="10972800" cy="43159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1591056"/>
            <a:ext cx="10744200" cy="64008"/>
          </a:xfrm>
          <a:prstGeom prst="rect">
            <a:avLst/>
          </a:prstGeom>
          <a:solidFill>
            <a:srgbClr val="A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ADEEE2"/>
                </a:solidFill>
                <a:latin typeface="Work Sans Medium"/>
              </a:rPr>
              <a:t>MARKET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Gera is the only benchmarked player positioned as a full indirect-channel 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The differentiation is not offer creation alone; it is coordination across actors and systems.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30352" y="1874519"/>
          <a:ext cx="763524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458200" y="1874519"/>
            <a:ext cx="2834640" cy="3794760"/>
          </a:xfrm>
          <a:prstGeom prst="rect">
            <a:avLst/>
          </a:prstGeom>
          <a:solidFill>
            <a:srgbClr val="F5F5F5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9952" y="213055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8AD8"/>
                </a:solidFill>
                <a:latin typeface="Barlow Condensed Medium"/>
              </a:rPr>
              <a:t>Market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257860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78892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Gera: calendar, portfolio, BI, distributor workflow, sales-force incentives.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23697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3447288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VTEX: native commerce promotions and integrations, but not indirect-channel specific.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389534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410565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Yalo: conversational front end; upstream systems provide promotion logic.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Summary of Findings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Medium"/>
              </a:rPr>
              <a:t>EVIDENCE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BEES Offer Creator is useful where the channel is the execution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The native tool remains relevant, but its boundaries become visible when partners run multiple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5486400" cy="3886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Five Brazilian partners are reported as current Offer Creator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07208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Partners with existing promotion integrations may not need a separate native creator.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65576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75888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ERP price guardrails can cancel orders when BEES promotions are not reflected upstream.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828800"/>
            <a:ext cx="5212080" cy="3886200"/>
          </a:xfrm>
          <a:prstGeom prst="rect">
            <a:avLst/>
          </a:prstGeom>
          <a:solidFill>
            <a:srgbClr val="000000"/>
          </a:solidFill>
          <a:ln w="5715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2148840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DF6F"/>
                </a:solidFill>
                <a:latin typeface="Barlow Condensed Medium"/>
              </a:rPr>
              <a:t>What this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606040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FFFFFF"/>
                </a:solidFill>
                <a:latin typeface="Barlow Condensed Medium"/>
              </a:rPr>
              <a:t>Preserve native execution while defining a clear integration contract with upstream promotion owners.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406908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427939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Five Brazilian partners are reported as current Offer Creator users.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72744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937760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Partners with existing promotion integrations may not need a separate native creator.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5385816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5596128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ERP price guardrails can cancel orders when BEES promotions are not reflected upstream.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About Offer Creator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Medium"/>
              </a:rPr>
              <a:t>USE-CASE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The current Offer Creator workflow stops at offer publication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The missing visibility is what happens across ERP, distributor, sales force, and performance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920240"/>
            <a:ext cx="512064" cy="512064"/>
          </a:xfrm>
          <a:prstGeom prst="ellipse">
            <a:avLst/>
          </a:prstGeom>
          <a:solidFill>
            <a:srgbClr val="FF8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11111"/>
                </a:solidFill>
                <a:latin typeface="Barlow Condensed Medium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07007" y="2157984"/>
            <a:ext cx="2926080" cy="3200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Barlow Condensed Medium"/>
              </a:rP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900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8AD8"/>
                </a:solidFill>
                <a:latin typeface="Work Sans Medium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Work Sans Light"/>
              </a:rPr>
              <a:t>— Offer name and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9534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Work Sans Light"/>
              </a:rPr>
              <a:t>— Period, audience, rules,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34256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Work Sans Light"/>
              </a:rPr>
              <a:t>— Review and approve</a:t>
            </a:r>
          </a:p>
        </p:txBody>
      </p:sp>
      <p:sp>
        <p:nvSpPr>
          <p:cNvPr id="13" name="Oval 12"/>
          <p:cNvSpPr/>
          <p:nvPr/>
        </p:nvSpPr>
        <p:spPr>
          <a:xfrm>
            <a:off x="4343400" y="1920240"/>
            <a:ext cx="512064" cy="512064"/>
          </a:xfrm>
          <a:prstGeom prst="ellipse">
            <a:avLst/>
          </a:prstGeom>
          <a:solidFill>
            <a:srgbClr val="A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11111"/>
                </a:solidFill>
                <a:latin typeface="Barlow Condensed Medium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10328" y="2157984"/>
            <a:ext cx="2926080" cy="3200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651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Barlow Condensed Medium"/>
              </a:rPr>
              <a:t>Publish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9900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8AD8"/>
                </a:solidFill>
                <a:latin typeface="Work Sans Medium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45643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Work Sans Light"/>
              </a:rPr>
              <a:t>— Offer becomes visible in distributor stores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89534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Work Sans Light"/>
              </a:rPr>
              <a:t>— Execution depends on distributor integrations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334256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Work Sans Light"/>
              </a:rPr>
              <a:t>— ERP guardrails can still intervene</a:t>
            </a:r>
          </a:p>
        </p:txBody>
      </p:sp>
      <p:sp>
        <p:nvSpPr>
          <p:cNvPr id="20" name="Oval 19"/>
          <p:cNvSpPr/>
          <p:nvPr/>
        </p:nvSpPr>
        <p:spPr>
          <a:xfrm>
            <a:off x="8046719" y="1920240"/>
            <a:ext cx="512064" cy="512064"/>
          </a:xfrm>
          <a:prstGeom prst="ellipse">
            <a:avLst/>
          </a:prstGeom>
          <a:solidFill>
            <a:srgbClr val="FFD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11111"/>
                </a:solidFill>
                <a:latin typeface="Barlow Condensed Medium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2651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Barlow Condensed Medium"/>
              </a:rPr>
              <a:t>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29900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8AD8"/>
                </a:solidFill>
                <a:latin typeface="Work Sans Medium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345643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Work Sans Light"/>
              </a:rPr>
              <a:t>— Budget and consumption visibility are limited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389534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Work Sans Light"/>
              </a:rPr>
              <a:t>— Errors and status are not consistently exposed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4334256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Work Sans Light"/>
              </a:rPr>
              <a:t>— ROI loop is not unified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532120"/>
            <a:ext cx="10789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669280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000000"/>
                </a:solidFill>
                <a:latin typeface="Work Sans Medium"/>
              </a:rPr>
              <a:t>Add lifecycle status, upstream acknowledgement, budget visibility, and post-campaign performance to the product contract.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Offer Creator limitations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773936"/>
            <a:ext cx="10972800" cy="43159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1591056"/>
            <a:ext cx="10744200" cy="64008"/>
          </a:xfrm>
          <a:prstGeom prst="rect">
            <a:avLst/>
          </a:prstGeom>
          <a:solidFill>
            <a:srgbClr val="A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ADEEE2"/>
                </a:solidFill>
                <a:latin typeface="Work Sans Medium"/>
              </a:rPr>
              <a:t>PARTICIPANT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Gera’s strength is the connected commercial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Its promise spans planning, eligibility, distributor governance, field execution, and analytics.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21762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11111"/>
                </a:solidFill>
                <a:latin typeface="Work Sans Medium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74519"/>
            <a:ext cx="30723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Promotional calendars reportedly save up to 20 working days per cycle.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3136" y="186537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DEEE2"/>
                </a:solidFill>
                <a:latin typeface="Work Sans Medium"/>
              </a:rPr>
              <a:t>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41448"/>
            <a:ext cx="21762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11111"/>
                </a:solidFill>
                <a:latin typeface="Work Sans Medium"/>
              </a:rPr>
              <a:t>Govern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441448"/>
            <a:ext cx="30723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Distributors can accept or reject campaigns before execution.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243230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DEEE2"/>
                </a:solidFill>
                <a:latin typeface="Work Sans Medium"/>
              </a:rPr>
              <a:t>supported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08376"/>
            <a:ext cx="21762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11111"/>
                </a:solidFill>
                <a:latin typeface="Work Sans Medium"/>
              </a:rPr>
              <a:t>Execute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008376"/>
            <a:ext cx="30723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Rules, quotas, and incentives reach sales-force workflows.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299923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F8AD8"/>
                </a:solidFill>
                <a:latin typeface="Work Sans Medium"/>
              </a:rPr>
              <a:t>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575303"/>
            <a:ext cx="21762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11111"/>
                </a:solidFill>
                <a:latin typeface="Work Sans Medium"/>
              </a:rPr>
              <a:t>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575303"/>
            <a:ext cx="30723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Gera Dados dashboards connect campaign and performance views.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356616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DEEE2"/>
                </a:solidFill>
                <a:latin typeface="Work Sans Medium"/>
              </a:rPr>
              <a:t>supported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1874519"/>
            <a:ext cx="3063240" cy="3794760"/>
          </a:xfrm>
          <a:prstGeom prst="rect">
            <a:avLst/>
          </a:prstGeom>
          <a:solidFill>
            <a:srgbClr val="F5F5F5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7928" y="2130552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8AD8"/>
                </a:solidFill>
                <a:latin typeface="Barlow Condensed Medium"/>
              </a:rP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Gera indirect-channel findings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773936"/>
            <a:ext cx="10972800" cy="43159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1591056"/>
            <a:ext cx="10744200" cy="64008"/>
          </a:xfrm>
          <a:prstGeom prst="rect">
            <a:avLst/>
          </a:prstGeom>
          <a:solidFill>
            <a:srgbClr val="A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ADEEE2"/>
                </a:solidFill>
                <a:latin typeface="Work Sans Medium"/>
              </a:rPr>
              <a:t>MARKET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The alternatives solve different parts of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No competitor is a complete substitute for BEES; each reveals a different product opportunity.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874519"/>
            <a:ext cx="7635240" cy="3794760"/>
          </a:xfrm>
          <a:prstGeom prst="rect">
            <a:avLst/>
          </a:prstGeom>
          <a:solidFill>
            <a:srgbClr val="F7F7F7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874519"/>
            <a:ext cx="2834640" cy="3794760"/>
          </a:xfrm>
          <a:prstGeom prst="rect">
            <a:avLst/>
          </a:prstGeom>
          <a:solidFill>
            <a:srgbClr val="F5F5F5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9952" y="213055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8AD8"/>
                </a:solidFill>
                <a:latin typeface="Barlow Condensed Medium"/>
              </a:rPr>
              <a:t>Market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257860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78892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VTEX: faster single-screen creation, recurrence, and mature commerce integrations.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23697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3447288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Yalo: conversational front end and recommendations, but no native promotion engine.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389534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410565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TudoFarma: fast bulk creation, distributor/state toggles, and simple pharma-specific UX.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VTEX, Yalo, and TudoFarma findings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Medium"/>
              </a:rPr>
              <a:t>HYPOTHESIS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The strategic choice is integration, competition, or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Each posture changes the time-to-value, control, and partner migration burden.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FF8AD8"/>
                </a:solidFill>
                <a:latin typeface="Work Sans Medium"/>
              </a:rPr>
              <a:t>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75564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FF8AD8"/>
                </a:solidFill>
                <a:latin typeface="Work Sans Medium"/>
              </a:rPr>
              <a:t>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755648"/>
            <a:ext cx="4069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FF8AD8"/>
                </a:solidFill>
                <a:latin typeface="Work Sans Medium"/>
              </a:rPr>
              <a:t>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39112"/>
            <a:ext cx="1088136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13055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000000"/>
                </a:solidFill>
                <a:latin typeface="Work Sans Medium"/>
              </a:rPr>
              <a:t>Integrate with Gera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2148840"/>
            <a:ext cx="1143000" cy="292608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 i="0">
                <a:solidFill>
                  <a:srgbClr val="111111"/>
                </a:solidFill>
                <a:latin typeface="Work Sans Medium"/>
              </a:rPr>
              <a:t>Fastest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130552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Work Sans Light"/>
              </a:rPr>
              <a:t>Preserves partner investment but introduces dependency and semantic gaps.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06040"/>
            <a:ext cx="1088136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97480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000000"/>
                </a:solidFill>
                <a:latin typeface="Work Sans Medium"/>
              </a:rPr>
              <a:t>Build and compete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2715768"/>
            <a:ext cx="1143000" cy="292608"/>
          </a:xfrm>
          <a:prstGeom prst="roundRect">
            <a:avLst/>
          </a:prstGeom>
          <a:solidFill>
            <a:srgbClr val="FFD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 i="0">
                <a:solidFill>
                  <a:srgbClr val="111111"/>
                </a:solidFill>
                <a:latin typeface="Work Sans Medium"/>
              </a:rPr>
              <a:t>Highest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697480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Work Sans Light"/>
              </a:rPr>
              <a:t>Could unify the stack but requires long delivery and broad domain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72968"/>
            <a:ext cx="1088136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26440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000000"/>
                </a:solidFill>
                <a:latin typeface="Work Sans Medium"/>
              </a:rPr>
              <a:t>Explore acquisition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3282696"/>
            <a:ext cx="1143000" cy="292608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 i="0">
                <a:solidFill>
                  <a:srgbClr val="111111"/>
                </a:solidFill>
                <a:latin typeface="Work Sans Medium"/>
              </a:rPr>
              <a:t>Strategic option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264408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Work Sans Light"/>
              </a:rPr>
              <a:t>Could absorb capabilities and relationships; feasibility and fit are unvalidated.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715000"/>
            <a:ext cx="10881360" cy="475488"/>
          </a:xfrm>
          <a:prstGeom prst="rect">
            <a:avLst/>
          </a:prstGeom>
          <a:solidFill>
            <a:srgbClr val="000000"/>
          </a:solidFill>
          <a:ln w="5715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843016"/>
            <a:ext cx="10332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Work Sans Medium"/>
              </a:rPr>
              <a:t>Run a time-boxed integration discovery before committing to build or M&amp;A.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Conclusion and strategic considerations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Medium"/>
              </a:rPr>
              <a:t>DECISION /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Start with an integration posture, guarded by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The first decision should preserve partner momentum while testing whether Gera’s orchestration model fits BEES execution.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3703320" cy="4160520"/>
          </a:xfrm>
          <a:prstGeom prst="rect">
            <a:avLst/>
          </a:prstGeom>
          <a:solidFill>
            <a:srgbClr val="000000"/>
          </a:solidFill>
          <a:ln w="5715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DF6F"/>
                </a:solidFill>
                <a:latin typeface="Work Sans Medium"/>
              </a:rPr>
              <a:t>Suggested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9718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Barlow Condensed Medium"/>
              </a:rPr>
              <a:t>Define an API and operating-model discovery with Colgate or another shared partner.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828800"/>
            <a:ext cx="1920240" cy="73152"/>
          </a:xfrm>
          <a:prstGeom prst="rect">
            <a:avLst/>
          </a:prstGeom>
          <a:solidFill>
            <a:srgbClr val="A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299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Barlow Condensed Medium"/>
              </a:rPr>
              <a:t>Keep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59" y="1828800"/>
            <a:ext cx="1920240" cy="73152"/>
          </a:xfrm>
          <a:prstGeom prst="rect">
            <a:avLst/>
          </a:prstGeom>
          <a:solidFill>
            <a:srgbClr val="FF8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59" y="20299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Barlow Condensed Medium"/>
              </a:rPr>
              <a:t>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828800"/>
            <a:ext cx="1920240" cy="73152"/>
          </a:xfrm>
          <a:prstGeom prst="rect">
            <a:avLst/>
          </a:prstGeom>
          <a:solidFill>
            <a:srgbClr val="FFD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20299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Barlow Condensed Medium"/>
              </a:rPr>
              <a:t>Watch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evidence-based recommendation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773936"/>
            <a:ext cx="10972800" cy="43159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1591056"/>
            <a:ext cx="10744200" cy="64008"/>
          </a:xfrm>
          <a:prstGeom prst="rect">
            <a:avLst/>
          </a:prstGeom>
          <a:solidFill>
            <a:srgbClr val="A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ADEEE2"/>
                </a:solidFill>
                <a:latin typeface="Work Sans Medium"/>
              </a:rPr>
              <a:t>EVIDENCE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The complete benchmark shows where BEES is strong, partial, or exposed.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The complete benchmark shows where BEES is strong, partial, or exposed.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5486400" cy="3886200"/>
          </a:xfrm>
          <a:prstGeom prst="rect">
            <a:avLst/>
          </a:prstGeom>
          <a:solidFill>
            <a:srgbClr val="F5F5F5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Research page 6198329781 · Summary of Findings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28800"/>
            <a:ext cx="5212080" cy="3886200"/>
          </a:xfrm>
          <a:prstGeom prst="rect">
            <a:avLst/>
          </a:prstGeom>
          <a:solidFill>
            <a:srgbClr val="000000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148840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DF6F"/>
                </a:solidFill>
                <a:latin typeface="Barlow Condensed Medium"/>
              </a:rPr>
              <a:t>What this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606040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FFFFFF"/>
                </a:solidFill>
                <a:latin typeface="Barlow Condensed Medium"/>
              </a:rPr>
              <a:t>Use the full capability matrix as the baseline for future product and partnership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406908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427939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Research page 6198329781 · Summary of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Summary of Findings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Medium"/>
              </a:rPr>
              <a:t>USE-CASE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BEES Offer Creator is a three-step workflow with a thin post-publication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BEES Offer Creator is a three-step workflow with a thin post-publication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10789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000000"/>
                </a:solidFill>
                <a:latin typeface="Work Sans Medium"/>
              </a:rPr>
              <a:t>Define lifecycle status and handoffs across all three Offer Creator stages.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Offer Creation 3-steps Workflow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Medium"/>
              </a:rPr>
              <a:t>USE-CASE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Gera extends promotion creation into distributor governance and field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Gera extends promotion creation into distributor governance and field execution.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10789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000000"/>
                </a:solidFill>
                <a:latin typeface="Work Sans Medium"/>
              </a:rPr>
              <a:t>Validate distributor acceptance, ERP synchronization, and sales-force execution in an end-to-end partner pilot.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Gera indirect-channel workflow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773936"/>
            <a:ext cx="10972800" cy="43159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1591056"/>
            <a:ext cx="10744200" cy="64008"/>
          </a:xfrm>
          <a:prstGeom prst="rect">
            <a:avLst/>
          </a:prstGeom>
          <a:solidFill>
            <a:srgbClr val="A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ADEEE2"/>
                </a:solidFill>
                <a:latin typeface="Work Sans Medium"/>
              </a:rPr>
              <a:t>EVIDENCE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VTEX compresses creation into one commerce-admin surface.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VTEX compresses creation into one commerce-admin surface.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5486400" cy="3886200"/>
          </a:xfrm>
          <a:prstGeom prst="rect">
            <a:avLst/>
          </a:prstGeom>
          <a:solidFill>
            <a:srgbClr val="F5F5F5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Research page 6198329781 · VTEX Promotions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28800"/>
            <a:ext cx="5212080" cy="3886200"/>
          </a:xfrm>
          <a:prstGeom prst="rect">
            <a:avLst/>
          </a:prstGeom>
          <a:solidFill>
            <a:srgbClr val="000000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148840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DF6F"/>
                </a:solidFill>
                <a:latin typeface="Barlow Condensed Medium"/>
              </a:rPr>
              <a:t>What this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606040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FFFFFF"/>
                </a:solidFill>
                <a:latin typeface="Barlow Condensed Medium"/>
              </a:rPr>
              <a:t>Validate BEES and VTEX on creation speed, recurrence, audience logic, and channel fit.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406908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427939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Research page 6198329781 · VTEX Promotions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VTEX Promotions Module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773936"/>
            <a:ext cx="10972800" cy="43159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1591056"/>
            <a:ext cx="10744200" cy="64008"/>
          </a:xfrm>
          <a:prstGeom prst="rect">
            <a:avLst/>
          </a:prstGeom>
          <a:solidFill>
            <a:srgbClr val="A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ADEEE2"/>
                </a:solidFill>
                <a:latin typeface="Work Sans Medium"/>
              </a:rPr>
              <a:t>EVIDENCE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TudoFarma wins on focused bulk operations and simple toggles.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TudoFarma wins on focused bulk operations and simple toggles.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5486400" cy="3886200"/>
          </a:xfrm>
          <a:prstGeom prst="rect">
            <a:avLst/>
          </a:prstGeom>
          <a:solidFill>
            <a:srgbClr val="F5F5F5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Research page 6198329781 · TudoFarma offer creation flow and comparison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28800"/>
            <a:ext cx="5212080" cy="3886200"/>
          </a:xfrm>
          <a:prstGeom prst="rect">
            <a:avLst/>
          </a:prstGeom>
          <a:solidFill>
            <a:srgbClr val="000000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148840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DF6F"/>
                </a:solidFill>
                <a:latin typeface="Barlow Condensed Medium"/>
              </a:rPr>
              <a:t>What this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606040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FFFFFF"/>
                </a:solidFill>
                <a:latin typeface="Barlow Condensed Medium"/>
              </a:rPr>
              <a:t>Validate bulk upload, multi-distributor toggles, and non-consecutive date patterns as reusable BEES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406908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427939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Research page 6198329781 · TudoFarma offer creation flow and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TudoFarma offer creation flow and comparison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FF8AD8"/>
                </a:solidFill>
                <a:latin typeface="Work Sans Medium"/>
              </a:rPr>
              <a:t>USE-CASE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The integration opportunity is technically plausible but semantically non-trivial.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The integration opportunity is technically plausible but semantically non-trivial.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10789920" cy="502920"/>
          </a:xfrm>
          <a:prstGeom prst="rect">
            <a:avLst/>
          </a:prstGeom>
          <a:solidFill>
            <a:srgbClr val="F5F5F5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000000"/>
                </a:solidFill>
                <a:latin typeface="Work Sans Medium"/>
              </a:rPr>
              <a:t>Define Gera API responsibilities against BEES promotion visibility before committing to an integration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Gera integrations and strategic considerations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773936"/>
            <a:ext cx="10972800" cy="43159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1591056"/>
            <a:ext cx="10744200" cy="64008"/>
          </a:xfrm>
          <a:prstGeom prst="rect">
            <a:avLst/>
          </a:prstGeom>
          <a:solidFill>
            <a:srgbClr val="A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ADEEE2"/>
                </a:solidFill>
                <a:latin typeface="Work Sans Medium"/>
              </a:rPr>
              <a:t>MARKET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“Direct” describes two different commercial systems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“Direct” describes two different commercial systems in the report.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874519"/>
            <a:ext cx="7635240" cy="3794760"/>
          </a:xfrm>
          <a:prstGeom prst="rect">
            <a:avLst/>
          </a:prstGeom>
          <a:solidFill>
            <a:srgbClr val="F7F7F7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874519"/>
            <a:ext cx="2834640" cy="3794760"/>
          </a:xfrm>
          <a:prstGeom prst="rect">
            <a:avLst/>
          </a:prstGeom>
          <a:solidFill>
            <a:srgbClr val="F5F5F5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9952" y="213055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8AD8"/>
                </a:solidFill>
                <a:latin typeface="Barlow Condensed Medium"/>
              </a:rPr>
              <a:t>Market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257860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78892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Research page 6198329781 · Appendix: Direct Sales in Brazil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Appendix: Direct Sales in Brazil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773936"/>
            <a:ext cx="10972800" cy="43159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1591056"/>
            <a:ext cx="10744200" cy="64008"/>
          </a:xfrm>
          <a:prstGeom prst="rect">
            <a:avLst/>
          </a:prstGeom>
          <a:solidFill>
            <a:srgbClr val="AD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ADEEE2"/>
                </a:solidFill>
                <a:latin typeface="Work Sans Medium"/>
              </a:rPr>
              <a:t>MARKET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9768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Strategic partners already span multiple promotion ecosystems.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5156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Work Sans Light"/>
              </a:rPr>
              <a:t>Strategic partners already span multiple promotion ecosystems.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444752"/>
            <a:ext cx="11018520" cy="13716"/>
          </a:xfrm>
          <a:prstGeom prst="rect">
            <a:avLst/>
          </a:prstGeom>
          <a:solidFill>
            <a:srgbClr val="CBD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874519"/>
            <a:ext cx="7635240" cy="3794760"/>
          </a:xfrm>
          <a:prstGeom prst="rect">
            <a:avLst/>
          </a:prstGeom>
          <a:solidFill>
            <a:srgbClr val="F7F7F7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874519"/>
            <a:ext cx="2834640" cy="3794760"/>
          </a:xfrm>
          <a:prstGeom prst="rect">
            <a:avLst/>
          </a:prstGeom>
          <a:solidFill>
            <a:srgbClr val="F5F5F5"/>
          </a:solidFill>
          <a:ln w="1016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9952" y="213055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8AD8"/>
                </a:solidFill>
                <a:latin typeface="Barlow Condensed Medium"/>
              </a:rPr>
              <a:t>Market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257860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8AD8"/>
                </a:solidFill>
                <a:latin typeface="Work Sans Medium"/>
              </a:rPr>
              <a:t>Signal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78892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55555"/>
                </a:solidFill>
                <a:latin typeface="Work Sans Light"/>
              </a:rPr>
              <a:t>Research page 6198329781 · Partner × Platform Coverage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Research page 6198329781 · Partner × Platform Coverage Matrix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FF8AD8"/>
                </a:solidFill>
                <a:latin typeface="Work Sans Medium"/>
              </a:rPr>
              <a:t>DECISION AND NEXT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75488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Closing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17320"/>
            <a:ext cx="11018520" cy="18288"/>
          </a:xfrm>
          <a:prstGeom prst="rect">
            <a:avLst/>
          </a:prstGeom>
          <a:solidFill>
            <a:srgbClr val="CBD4EA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4663440" cy="365760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tIns="254000"/>
          <a:lstStyle/>
          <a:p>
            <a:pPr algn="ctr"/>
            <a:r>
              <a:rPr sz="1000" b="0" i="0">
                <a:solidFill>
                  <a:srgbClr val="FFDF6F"/>
                </a:solidFill>
                <a:latin typeface="Work Sans Medium"/>
              </a:rPr>
              <a:t>DECISION</a:t>
            </a:r>
          </a:p>
          <a:p>
            <a:pPr>
              <a:spcBef>
                <a:spcPts val="1800"/>
              </a:spcBef>
            </a:pPr>
            <a:r>
              <a:rPr sz="2000" b="0" i="0">
                <a:solidFill>
                  <a:srgbClr val="FFFFFF"/>
                </a:solidFill>
                <a:latin typeface="Barlow Condensed Medium"/>
              </a:rPr>
              <a:t>Use partner coverage to prioritize integration discovery with shared accounts before broad platform investment.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920240"/>
            <a:ext cx="475488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DF6F"/>
                </a:solidFill>
                <a:latin typeface="Barlow Condensed Medium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965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11111"/>
                </a:solidFill>
                <a:latin typeface="Work Sans Medium"/>
              </a:rPr>
              <a:t>Validate the research implications quantitatively.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[Research] [One] Gera and Offer Creating Tools Benchmark | Q2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FF8AD8"/>
                </a:solidFill>
                <a:latin typeface="Work Sans Medium"/>
              </a:rPr>
              <a:t>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75488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111111"/>
                </a:solidFill>
                <a:latin typeface="Barlow Condensed Medium"/>
              </a:rPr>
              <a:t>Appendix /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17320"/>
            <a:ext cx="11018520" cy="18288"/>
          </a:xfrm>
          <a:prstGeom prst="rect">
            <a:avLst/>
          </a:prstGeom>
          <a:solidFill>
            <a:srgbClr val="CBD4EA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246120" cy="3520440"/>
          </a:xfrm>
          <a:prstGeom prst="roundRect">
            <a:avLst/>
          </a:prstGeom>
          <a:solidFill>
            <a:srgbClr val="F7F7F7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FF8AD8"/>
                </a:solidFill>
                <a:latin typeface="Barlow Condensed Medium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Work Sans Light"/>
              </a:rPr>
              <a:t>— Desk research and capability benchmark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Work Sans Light"/>
              </a:rPr>
              <a:t>— 4 external players + BEES Offer Creator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828800"/>
            <a:ext cx="3246120" cy="3520440"/>
          </a:xfrm>
          <a:prstGeom prst="roundRect">
            <a:avLst/>
          </a:prstGeom>
          <a:solidFill>
            <a:srgbClr val="F7F7F7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FF8AD8"/>
                </a:solidFill>
                <a:latin typeface="Barlow Condensed Medium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0604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Work Sans Light"/>
              </a:rPr>
              <a:t>— [Research] [One] Gera and Offer Creating Tools Benchmark | Q2 2026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Work Sans Light"/>
              </a:rPr>
              <a:t>— https://ab-inbev.atlassian.net/wiki/spaces/BEESPKM/pages/6198329781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828800"/>
            <a:ext cx="3246120" cy="3520440"/>
          </a:xfrm>
          <a:prstGeom prst="roundRect">
            <a:avLst/>
          </a:prstGeom>
          <a:solidFill>
            <a:srgbClr val="F7F7F7"/>
          </a:solidFill>
          <a:ln w="6350">
            <a:solidFill>
              <a:srgbClr val="CB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FF8AD8"/>
                </a:solidFill>
                <a:latin typeface="Barlow Condensed Medium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Work Sans Light"/>
              </a:rPr>
              <a:t>— Directional qualitative evidence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Work Sans Light"/>
              </a:rPr>
              <a:t>— Validate scale and frequency quantitatively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6446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Work Sans Light"/>
              </a:rPr>
              <a:t>[Research] [One] Gera and Offer Creating Tools Benchmark | Q2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Corpus-derived research presentation</dc:subject>
  <dc:creator>BEES Research Renderer</dc:creator>
  <cp:keywords/>
  <dc:description>generated using python-pptx</dc:description>
  <cp:lastModifiedBy>BEES Research Renderer</cp:lastModifiedBy>
  <cp:revision>1</cp:revision>
  <dcterms:created xsi:type="dcterms:W3CDTF">2013-01-27T09:14:16Z</dcterms:created>
  <dcterms:modified xsi:type="dcterms:W3CDTF">2013-01-27T09:15:58Z</dcterms:modified>
  <cp:category/>
</cp:coreProperties>
</file>