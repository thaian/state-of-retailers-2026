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106984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1">
                <a:solidFill>
                  <a:srgbClr val="696969"/>
                </a:solidFill>
                <a:latin typeface="Arial"/>
              </a:rPr>
              <a:t>RESEARCH / BEES ONE / OFFER CREATOR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424160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800" b="1">
                <a:solidFill>
                  <a:srgbClr val="141414"/>
                </a:solidFill>
                <a:latin typeface="Arial"/>
              </a:rPr>
              <a:t>Offer management is a system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4680"/>
            <a:ext cx="896112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00" b="0">
                <a:solidFill>
                  <a:srgbClr val="696969"/>
                </a:solidFill>
                <a:latin typeface="Arial"/>
              </a:rPr>
              <a:t>What posture should BEES take toward promotion orchestration?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89320"/>
            <a:ext cx="5486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rial"/>
              </a:rPr>
              <a:t>Typography + data visualisation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97840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696969"/>
                </a:solidFill>
                <a:latin typeface="Arial"/>
              </a:rPr>
              <a:t>[Research] [One] Gera and Offer Creating Tools Benchmark | Q2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696969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rial"/>
              </a:rPr>
              <a:t>RESEARCH READOUT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45720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rial"/>
              </a:rPr>
              <a:t>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10241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Executive signal and operating models</a:t>
            </a:r>
          </a:p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Full evidence set: workflows, matrices, and integration patterns</a:t>
            </a:r>
          </a:p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Strategic posture and next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97840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696969"/>
                </a:solidFill>
                <a:latin typeface="Arial"/>
              </a:rPr>
              <a:t>[Research] [One] Gera and Offer Creating Tools Benchmark | Q2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696969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rial"/>
              </a:rPr>
              <a:t>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rial"/>
              </a:rPr>
              <a:t>Offer management is a system problem, not only a tool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45720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rial"/>
              </a:rPr>
              <a:t>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Promotions connect manufacturer strategy, distributor execution, sales-rep incentives, channel visibility, and ROI.</a:t>
            </a:r>
          </a:p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Gera combines promotion calendars, portfolio management, sales-force incentives, and BI.</a:t>
            </a:r>
          </a:p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BEES Offer Creator creates offers inside the BEES ecosystem but does not replace every upstream ERP or orchestration need.</a:t>
            </a:r>
          </a:p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Strategic partners may operate BEES, Gera, VTEX, Yalo, and ERP tools simultaneously.</a:t>
            </a:r>
          </a:p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Action: Decide BEES posture at ecosystem level before expanding Offer Creator feature scope.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97840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696969"/>
                </a:solidFill>
                <a:latin typeface="Arial"/>
              </a:rPr>
              <a:t>Research page 6198329781 · 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696969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rial"/>
              </a:rPr>
              <a:t>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rial"/>
              </a:rPr>
              <a:t>The benchmark compares four operating models around promotion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45720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rial"/>
              </a:rPr>
              <a:t>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The right solution depends on who owns rules, integration, execution, and measurement.</a:t>
            </a:r>
          </a:p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Action: Use operating model as the primary comparison frame.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97840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696969"/>
                </a:solidFill>
                <a:latin typeface="Arial"/>
              </a:rPr>
              <a:t>Research page 6198329781 · Context and operating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696969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rial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rial"/>
              </a:rPr>
              <a:t>Gera is the only benchmarked player positioned as a full indirect-channel orchestrator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45720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rial"/>
              </a:rPr>
              <a:t>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The differentiation is not offer creation alone; it is coordination across actors and systems.</a:t>
            </a:r>
          </a:p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Gera: calendar, portfolio, BI, distributor workflow, sales-force incentives.</a:t>
            </a:r>
          </a:p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VTEX: native commerce promotions and integrations, but not indirect-channel specific.</a:t>
            </a:r>
          </a:p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Yalo: conversational front end; upstream systems provide promotion logic.</a:t>
            </a:r>
          </a:p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Action: Treat Gera as a strategic ecosystem signal, not only as a feature benchmark.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97840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696969"/>
                </a:solidFill>
                <a:latin typeface="Arial"/>
              </a:rPr>
              <a:t>Research page 6198329781 · Summary of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696969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rial"/>
              </a:rPr>
              <a:t>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rial"/>
              </a:rPr>
              <a:t>BEES Offer Creator is useful where the channel is the execution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45720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rial"/>
              </a:rPr>
              <a:t>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The native tool remains relevant, but its boundaries become visible when partners run multiple systems.</a:t>
            </a:r>
          </a:p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Five Brazilian partners are reported as current Offer Creator users.</a:t>
            </a:r>
          </a:p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Partners with existing promotion integrations may not need a separate native creator.</a:t>
            </a:r>
          </a:p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ERP price guardrails can cancel orders when BEES promotions are not reflected upstream.</a:t>
            </a:r>
          </a:p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Action: Preserve native execution while defining a clear integration contract with upstream promotion owners.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97840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696969"/>
                </a:solidFill>
                <a:latin typeface="Arial"/>
              </a:rPr>
              <a:t>Research page 6198329781 · About Offer Creator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696969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rial"/>
              </a:rPr>
              <a:t>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rial"/>
              </a:rPr>
              <a:t>The current Offer Creator workflow stops at offer publication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45720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rial"/>
              </a:rPr>
              <a:t>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3246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b="1" sz="1500">
                <a:solidFill>
                  <a:srgbClr val="141414"/>
                </a:solidFill>
                <a:latin typeface="Arial"/>
              </a:defRPr>
            </a:pPr>
            <a:r>
              <a:t>01 / Define</a:t>
            </a:r>
          </a:p>
          <a:p>
            <a:pPr>
              <a:defRPr sz="1000">
                <a:solidFill>
                  <a:srgbClr val="696969"/>
                </a:solidFill>
                <a:latin typeface="Arial"/>
              </a:defRPr>
            </a:pPr>
            <a:r>
              <a:t>Offer, audience, rules, and calendar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0791" y="3182112"/>
            <a:ext cx="320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000" b="0">
                <a:solidFill>
                  <a:srgbClr val="141414"/>
                </a:solidFill>
                <a:latin typeface="Arial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2743200"/>
            <a:ext cx="3246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b="1" sz="1500">
                <a:solidFill>
                  <a:srgbClr val="141414"/>
                </a:solidFill>
                <a:latin typeface="Arial"/>
              </a:defRPr>
            </a:pPr>
            <a:r>
              <a:t>02 / Coordinate</a:t>
            </a:r>
          </a:p>
          <a:p>
            <a:pPr>
              <a:defRPr sz="1000">
                <a:solidFill>
                  <a:srgbClr val="696969"/>
                </a:solidFill>
                <a:latin typeface="Arial"/>
              </a:defRPr>
            </a:pPr>
            <a:r>
              <a:t>Distributor, ERP, or channel acceptance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2672" y="3182112"/>
            <a:ext cx="320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000" b="0">
                <a:solidFill>
                  <a:srgbClr val="141414"/>
                </a:solidFill>
                <a:latin typeface="Arial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2743200"/>
            <a:ext cx="3246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b="1" sz="1500">
                <a:solidFill>
                  <a:srgbClr val="141414"/>
                </a:solidFill>
                <a:latin typeface="Arial"/>
              </a:defRPr>
            </a:pPr>
            <a:r>
              <a:t>03 / Execute</a:t>
            </a:r>
          </a:p>
          <a:p>
            <a:pPr>
              <a:defRPr sz="1000">
                <a:solidFill>
                  <a:srgbClr val="696969"/>
                </a:solidFill>
                <a:latin typeface="Arial"/>
              </a:defRPr>
            </a:pPr>
            <a:r>
              <a:t>Sales surface, order, and performance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97840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696969"/>
                </a:solidFill>
                <a:latin typeface="Arial"/>
              </a:rPr>
              <a:t>Research page 6198329781 · Offer Creator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4652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696969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rial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rial"/>
              </a:rPr>
              <a:t>Gera’s strength is the connected commercial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45720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rial"/>
              </a:rPr>
              <a:t>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Its promise spans planning, eligibility, distributor governance, field execution, and analytics.</a:t>
            </a:r>
          </a:p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Action: Validate Gera’s end-to-end delivery with a partner reference or controlled technical discovery.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97840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696969"/>
                </a:solidFill>
                <a:latin typeface="Arial"/>
              </a:rPr>
              <a:t>Research page 6198329781 · Gera indirect-channel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696969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rial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rial"/>
              </a:rPr>
              <a:t>The alternatives solve different parts of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45720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rial"/>
              </a:rPr>
              <a:t>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6858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1414"/>
                          </a:solidFill>
                          <a:latin typeface="Arial"/>
                        </a:rPr>
                        <a:t>Option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1414"/>
                          </a:solidFill>
                          <a:latin typeface="Arial"/>
                        </a:rPr>
                        <a:t>Advantage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1414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1414"/>
                          </a:solidFill>
                          <a:latin typeface="Arial"/>
                        </a:rPr>
                        <a:t>Next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414"/>
                          </a:solidFill>
                          <a:latin typeface="Arial"/>
                        </a:rPr>
                        <a:t>Integrate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414"/>
                          </a:solidFill>
                          <a:latin typeface="Arial"/>
                        </a:rPr>
                        <a:t>Fastest time-to-value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414"/>
                          </a:solidFill>
                          <a:latin typeface="Arial"/>
                        </a:rPr>
                        <a:t>Vendor dependency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414"/>
                          </a:solidFill>
                          <a:latin typeface="Arial"/>
                        </a:rPr>
                        <a:t>API and partner discovery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414"/>
                          </a:solidFill>
                          <a:latin typeface="Arial"/>
                        </a:rPr>
                        <a:t>Compete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414"/>
                          </a:solidFill>
                          <a:latin typeface="Arial"/>
                        </a:rPr>
                        <a:t>Highest control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414"/>
                          </a:solidFill>
                          <a:latin typeface="Arial"/>
                        </a:rPr>
                        <a:t>Long delivery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414"/>
                          </a:solidFill>
                          <a:latin typeface="Arial"/>
                        </a:rPr>
                        <a:t>Scope and capability sizing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414"/>
                          </a:solidFill>
                          <a:latin typeface="Arial"/>
                        </a:rPr>
                        <a:t>Explore M&amp;A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414"/>
                          </a:solidFill>
                          <a:latin typeface="Arial"/>
                        </a:rPr>
                        <a:t>Absorb capability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414"/>
                          </a:solidFill>
                          <a:latin typeface="Arial"/>
                        </a:rPr>
                        <a:t>Transaction complexity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414"/>
                          </a:solidFill>
                          <a:latin typeface="Arial"/>
                        </a:rPr>
                        <a:t>Strategic and financial diligence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46520"/>
            <a:ext cx="97840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696969"/>
                </a:solidFill>
                <a:latin typeface="Arial"/>
              </a:rPr>
              <a:t>Research page 6198329781 · VTEX, Yalo, and TudoFarma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696969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rial"/>
              </a:rPr>
              <a:t>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rial"/>
              </a:rPr>
              <a:t>The strategic choice is integration, competition, or 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45720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rial"/>
              </a:rPr>
              <a:t>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6858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1414"/>
                          </a:solidFill>
                          <a:latin typeface="Arial"/>
                        </a:rPr>
                        <a:t>Option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1414"/>
                          </a:solidFill>
                          <a:latin typeface="Arial"/>
                        </a:rPr>
                        <a:t>Advantage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1414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1414"/>
                          </a:solidFill>
                          <a:latin typeface="Arial"/>
                        </a:rPr>
                        <a:t>Next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414"/>
                          </a:solidFill>
                          <a:latin typeface="Arial"/>
                        </a:rPr>
                        <a:t>Integrate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414"/>
                          </a:solidFill>
                          <a:latin typeface="Arial"/>
                        </a:rPr>
                        <a:t>Fastest time-to-value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414"/>
                          </a:solidFill>
                          <a:latin typeface="Arial"/>
                        </a:rPr>
                        <a:t>Vendor dependency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414"/>
                          </a:solidFill>
                          <a:latin typeface="Arial"/>
                        </a:rPr>
                        <a:t>API and partner discovery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414"/>
                          </a:solidFill>
                          <a:latin typeface="Arial"/>
                        </a:rPr>
                        <a:t>Compete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414"/>
                          </a:solidFill>
                          <a:latin typeface="Arial"/>
                        </a:rPr>
                        <a:t>Highest control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414"/>
                          </a:solidFill>
                          <a:latin typeface="Arial"/>
                        </a:rPr>
                        <a:t>Long delivery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414"/>
                          </a:solidFill>
                          <a:latin typeface="Arial"/>
                        </a:rPr>
                        <a:t>Scope and capability sizing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414"/>
                          </a:solidFill>
                          <a:latin typeface="Arial"/>
                        </a:rPr>
                        <a:t>Explore M&amp;A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414"/>
                          </a:solidFill>
                          <a:latin typeface="Arial"/>
                        </a:rPr>
                        <a:t>Absorb capability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414"/>
                          </a:solidFill>
                          <a:latin typeface="Arial"/>
                        </a:rPr>
                        <a:t>Transaction complexity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414"/>
                          </a:solidFill>
                          <a:latin typeface="Arial"/>
                        </a:rPr>
                        <a:t>Strategic and financial diligence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46520"/>
            <a:ext cx="97840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696969"/>
                </a:solidFill>
                <a:latin typeface="Arial"/>
              </a:rPr>
              <a:t>Research page 6198329781 · Conclusion and strategic considerations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696969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rial"/>
              </a:rPr>
              <a:t>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rial"/>
              </a:rPr>
              <a:t>Start with an integration posture, guarded by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45720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rial"/>
              </a:rPr>
              <a:t>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The first decision should preserve partner momentum while testing whether Gera’s orchestration model fits BEES execution.</a:t>
            </a:r>
          </a:p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Action: Define an API and operating-model discovery with Colgate or another shared partner.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97840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696969"/>
                </a:solidFill>
                <a:latin typeface="Arial"/>
              </a:rPr>
              <a:t>Research page 6198329781 · evidence-based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696969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rial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rial"/>
              </a:rPr>
              <a:t>The complete benchmark shows where BEES is strong, partial, or exposed.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45720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rial"/>
              </a:rPr>
              <a:t>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The complete benchmark shows where BEES is strong, partial, or exposed.</a:t>
            </a:r>
          </a:p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Research page 6198329781 · Summary of Findings</a:t>
            </a:r>
          </a:p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Action: Use the full capability matrix as the baseline for future product and partnership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97840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696969"/>
                </a:solidFill>
                <a:latin typeface="Arial"/>
              </a:rPr>
              <a:t>Research page 6198329781 · Summary of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696969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rial"/>
              </a:rPr>
              <a:t>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rial"/>
              </a:rPr>
              <a:t>BEES Offer Creator is a three-step workflow with a thin post-publication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45720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rial"/>
              </a:rPr>
              <a:t>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3246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b="1" sz="1500">
                <a:solidFill>
                  <a:srgbClr val="141414"/>
                </a:solidFill>
                <a:latin typeface="Arial"/>
              </a:defRPr>
            </a:pPr>
            <a:r>
              <a:t>01 / Define</a:t>
            </a:r>
          </a:p>
          <a:p>
            <a:pPr>
              <a:defRPr sz="1000">
                <a:solidFill>
                  <a:srgbClr val="696969"/>
                </a:solidFill>
                <a:latin typeface="Arial"/>
              </a:defRPr>
            </a:pPr>
            <a:r>
              <a:t>Offer, audience, rules, and calendar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0791" y="3182112"/>
            <a:ext cx="320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000" b="0">
                <a:solidFill>
                  <a:srgbClr val="141414"/>
                </a:solidFill>
                <a:latin typeface="Arial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2743200"/>
            <a:ext cx="3246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b="1" sz="1500">
                <a:solidFill>
                  <a:srgbClr val="141414"/>
                </a:solidFill>
                <a:latin typeface="Arial"/>
              </a:defRPr>
            </a:pPr>
            <a:r>
              <a:t>02 / Coordinate</a:t>
            </a:r>
          </a:p>
          <a:p>
            <a:pPr>
              <a:defRPr sz="1000">
                <a:solidFill>
                  <a:srgbClr val="696969"/>
                </a:solidFill>
                <a:latin typeface="Arial"/>
              </a:defRPr>
            </a:pPr>
            <a:r>
              <a:t>Distributor, ERP, or channel acceptance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2672" y="3182112"/>
            <a:ext cx="320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000" b="0">
                <a:solidFill>
                  <a:srgbClr val="141414"/>
                </a:solidFill>
                <a:latin typeface="Arial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2743200"/>
            <a:ext cx="3246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b="1" sz="1500">
                <a:solidFill>
                  <a:srgbClr val="141414"/>
                </a:solidFill>
                <a:latin typeface="Arial"/>
              </a:defRPr>
            </a:pPr>
            <a:r>
              <a:t>03 / Execute</a:t>
            </a:r>
          </a:p>
          <a:p>
            <a:pPr>
              <a:defRPr sz="1000">
                <a:solidFill>
                  <a:srgbClr val="696969"/>
                </a:solidFill>
                <a:latin typeface="Arial"/>
              </a:defRPr>
            </a:pPr>
            <a:r>
              <a:t>Sales surface, order, and performance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97840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696969"/>
                </a:solidFill>
                <a:latin typeface="Arial"/>
              </a:rPr>
              <a:t>Research page 6198329781 · Offer Creation 3-steps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4652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696969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rial"/>
              </a:rPr>
              <a:t>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rial"/>
              </a:rPr>
              <a:t>Gera extends promotion creation into distributor governance and field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45720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rial"/>
              </a:rPr>
              <a:t>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3246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b="1" sz="1500">
                <a:solidFill>
                  <a:srgbClr val="141414"/>
                </a:solidFill>
                <a:latin typeface="Arial"/>
              </a:defRPr>
            </a:pPr>
            <a:r>
              <a:t>01 / Define</a:t>
            </a:r>
          </a:p>
          <a:p>
            <a:pPr>
              <a:defRPr sz="1000">
                <a:solidFill>
                  <a:srgbClr val="696969"/>
                </a:solidFill>
                <a:latin typeface="Arial"/>
              </a:defRPr>
            </a:pPr>
            <a:r>
              <a:t>Offer, audience, rules, and calendar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0791" y="3182112"/>
            <a:ext cx="320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000" b="0">
                <a:solidFill>
                  <a:srgbClr val="141414"/>
                </a:solidFill>
                <a:latin typeface="Arial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2743200"/>
            <a:ext cx="3246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b="1" sz="1500">
                <a:solidFill>
                  <a:srgbClr val="141414"/>
                </a:solidFill>
                <a:latin typeface="Arial"/>
              </a:defRPr>
            </a:pPr>
            <a:r>
              <a:t>02 / Coordinate</a:t>
            </a:r>
          </a:p>
          <a:p>
            <a:pPr>
              <a:defRPr sz="1000">
                <a:solidFill>
                  <a:srgbClr val="696969"/>
                </a:solidFill>
                <a:latin typeface="Arial"/>
              </a:defRPr>
            </a:pPr>
            <a:r>
              <a:t>Distributor, ERP, or channel acceptance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2672" y="3182112"/>
            <a:ext cx="320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000" b="0">
                <a:solidFill>
                  <a:srgbClr val="141414"/>
                </a:solidFill>
                <a:latin typeface="Arial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2743200"/>
            <a:ext cx="3246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b="1" sz="1500">
                <a:solidFill>
                  <a:srgbClr val="141414"/>
                </a:solidFill>
                <a:latin typeface="Arial"/>
              </a:defRPr>
            </a:pPr>
            <a:r>
              <a:t>03 / Execute</a:t>
            </a:r>
          </a:p>
          <a:p>
            <a:pPr>
              <a:defRPr sz="1000">
                <a:solidFill>
                  <a:srgbClr val="696969"/>
                </a:solidFill>
                <a:latin typeface="Arial"/>
              </a:defRPr>
            </a:pPr>
            <a:r>
              <a:t>Sales surface, order, and performance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97840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696969"/>
                </a:solidFill>
                <a:latin typeface="Arial"/>
              </a:rPr>
              <a:t>Research page 6198329781 · Gera indirect-channel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4652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696969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rial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rial"/>
              </a:rPr>
              <a:t>VTEX compresses creation into one commerce-admin surface.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45720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rial"/>
              </a:rPr>
              <a:t>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3246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b="1" sz="1500">
                <a:solidFill>
                  <a:srgbClr val="141414"/>
                </a:solidFill>
                <a:latin typeface="Arial"/>
              </a:defRPr>
            </a:pPr>
            <a:r>
              <a:t>01 / Define</a:t>
            </a:r>
          </a:p>
          <a:p>
            <a:pPr>
              <a:defRPr sz="1000">
                <a:solidFill>
                  <a:srgbClr val="696969"/>
                </a:solidFill>
                <a:latin typeface="Arial"/>
              </a:defRPr>
            </a:pPr>
            <a:r>
              <a:t>Offer, audience, rules, and calendar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0791" y="3182112"/>
            <a:ext cx="320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000" b="0">
                <a:solidFill>
                  <a:srgbClr val="141414"/>
                </a:solidFill>
                <a:latin typeface="Arial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2743200"/>
            <a:ext cx="3246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b="1" sz="1500">
                <a:solidFill>
                  <a:srgbClr val="141414"/>
                </a:solidFill>
                <a:latin typeface="Arial"/>
              </a:defRPr>
            </a:pPr>
            <a:r>
              <a:t>02 / Coordinate</a:t>
            </a:r>
          </a:p>
          <a:p>
            <a:pPr>
              <a:defRPr sz="1000">
                <a:solidFill>
                  <a:srgbClr val="696969"/>
                </a:solidFill>
                <a:latin typeface="Arial"/>
              </a:defRPr>
            </a:pPr>
            <a:r>
              <a:t>Distributor, ERP, or channel acceptance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2672" y="3182112"/>
            <a:ext cx="320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000" b="0">
                <a:solidFill>
                  <a:srgbClr val="141414"/>
                </a:solidFill>
                <a:latin typeface="Arial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2743200"/>
            <a:ext cx="3246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b="1" sz="1500">
                <a:solidFill>
                  <a:srgbClr val="141414"/>
                </a:solidFill>
                <a:latin typeface="Arial"/>
              </a:defRPr>
            </a:pPr>
            <a:r>
              <a:t>03 / Execute</a:t>
            </a:r>
          </a:p>
          <a:p>
            <a:pPr>
              <a:defRPr sz="1000">
                <a:solidFill>
                  <a:srgbClr val="696969"/>
                </a:solidFill>
                <a:latin typeface="Arial"/>
              </a:defRPr>
            </a:pPr>
            <a:r>
              <a:t>Sales surface, order, and performance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97840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696969"/>
                </a:solidFill>
                <a:latin typeface="Arial"/>
              </a:rPr>
              <a:t>Research page 6198329781 · VTEX Promotions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4652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696969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rial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rial"/>
              </a:rPr>
              <a:t>TudoFarma wins on focused bulk operations and simple toggles.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45720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rial"/>
              </a:rPr>
              <a:t>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TudoFarma wins on focused bulk operations and simple toggles.</a:t>
            </a:r>
          </a:p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Research page 6198329781 · TudoFarma offer creation flow and comparison</a:t>
            </a:r>
          </a:p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Action: Validate bulk upload, multi-distributor toggles, and non-consecutive date patterns as reusable BEES 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97840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696969"/>
                </a:solidFill>
                <a:latin typeface="Arial"/>
              </a:rPr>
              <a:t>Research page 6198329781 · TudoFarma offer creation flow and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696969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rial"/>
              </a:rPr>
              <a:t>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rial"/>
              </a:rPr>
              <a:t>The integration opportunity is technically plausible but semantically non-trivial.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45720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rial"/>
              </a:rPr>
              <a:t>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3246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b="1" sz="1500">
                <a:solidFill>
                  <a:srgbClr val="141414"/>
                </a:solidFill>
                <a:latin typeface="Arial"/>
              </a:defRPr>
            </a:pPr>
            <a:r>
              <a:t>01 / Define</a:t>
            </a:r>
          </a:p>
          <a:p>
            <a:pPr>
              <a:defRPr sz="1000">
                <a:solidFill>
                  <a:srgbClr val="696969"/>
                </a:solidFill>
                <a:latin typeface="Arial"/>
              </a:defRPr>
            </a:pPr>
            <a:r>
              <a:t>Offer, audience, rules, and calendar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0791" y="3182112"/>
            <a:ext cx="320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000" b="0">
                <a:solidFill>
                  <a:srgbClr val="141414"/>
                </a:solidFill>
                <a:latin typeface="Arial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2743200"/>
            <a:ext cx="3246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b="1" sz="1500">
                <a:solidFill>
                  <a:srgbClr val="141414"/>
                </a:solidFill>
                <a:latin typeface="Arial"/>
              </a:defRPr>
            </a:pPr>
            <a:r>
              <a:t>02 / Coordinate</a:t>
            </a:r>
          </a:p>
          <a:p>
            <a:pPr>
              <a:defRPr sz="1000">
                <a:solidFill>
                  <a:srgbClr val="696969"/>
                </a:solidFill>
                <a:latin typeface="Arial"/>
              </a:defRPr>
            </a:pPr>
            <a:r>
              <a:t>Distributor, ERP, or channel acceptance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2672" y="3182112"/>
            <a:ext cx="320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000" b="0">
                <a:solidFill>
                  <a:srgbClr val="141414"/>
                </a:solidFill>
                <a:latin typeface="Arial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2743200"/>
            <a:ext cx="3246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b="1" sz="1500">
                <a:solidFill>
                  <a:srgbClr val="141414"/>
                </a:solidFill>
                <a:latin typeface="Arial"/>
              </a:defRPr>
            </a:pPr>
            <a:r>
              <a:t>03 / Execute</a:t>
            </a:r>
          </a:p>
          <a:p>
            <a:pPr>
              <a:defRPr sz="1000">
                <a:solidFill>
                  <a:srgbClr val="696969"/>
                </a:solidFill>
                <a:latin typeface="Arial"/>
              </a:defRPr>
            </a:pPr>
            <a:r>
              <a:t>Sales surface, order, and performance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97840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696969"/>
                </a:solidFill>
                <a:latin typeface="Arial"/>
              </a:rPr>
              <a:t>Research page 6198329781 · Gera integrations and strategic considerations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4652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696969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rial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rial"/>
              </a:rPr>
              <a:t>“Direct” describes two different commercial systems in the report.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45720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rial"/>
              </a:rPr>
              <a:t>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“Direct” describes two different commercial systems in the report.</a:t>
            </a:r>
          </a:p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Research page 6198329781 · Appendix: Direct Sales in Brazil</a:t>
            </a:r>
          </a:p>
          <a:p>
            <a:pPr>
              <a:spcAft>
                <a:spcPts val="12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t>Action: Define direct-selling evidence separately from BEES manufacturer-to-retailer requirements in future capability planning.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97840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696969"/>
                </a:solidFill>
                <a:latin typeface="Arial"/>
              </a:rPr>
              <a:t>Research page 6198329781 · Appendix: Direct Sales in Brazil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696969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rial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Arial"/>
              </a:rPr>
              <a:t>Strategic partners already span multiple promotion ecosystems.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45720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rial"/>
              </a:rPr>
              <a:t>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881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621792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41414"/>
                          </a:solidFill>
                          <a:latin typeface="Arial"/>
                        </a:rPr>
                        <a:t>Partner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41414"/>
                          </a:solidFill>
                          <a:latin typeface="Arial"/>
                        </a:rPr>
                        <a:t>BEES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41414"/>
                          </a:solidFill>
                          <a:latin typeface="Arial"/>
                        </a:rPr>
                        <a:t>Gera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41414"/>
                          </a:solidFill>
                          <a:latin typeface="Arial"/>
                        </a:rPr>
                        <a:t>VTEX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41414"/>
                          </a:solidFill>
                          <a:latin typeface="Arial"/>
                        </a:rPr>
                        <a:t>Yalo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41414"/>
                          </a:solidFill>
                          <a:latin typeface="Arial"/>
                        </a:rPr>
                        <a:t>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414"/>
                          </a:solidFill>
                          <a:latin typeface="Arial"/>
                        </a:rPr>
                        <a:t>Colgate-Palmolive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414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414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414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414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414"/>
                          </a:solidFill>
                          <a:latin typeface="Arial"/>
                        </a:rPr>
                        <a:t>Integration / switching cost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414"/>
                          </a:solidFill>
                          <a:latin typeface="Arial"/>
                        </a:rPr>
                        <a:t>Mondelez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414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414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414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414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414"/>
                          </a:solidFill>
                          <a:latin typeface="Arial"/>
                        </a:rPr>
                        <a:t>Multi-platform execution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414"/>
                          </a:solidFill>
                          <a:latin typeface="Arial"/>
                        </a:rPr>
                        <a:t>Haleon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414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414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414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414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414"/>
                          </a:solidFill>
                          <a:latin typeface="Arial"/>
                        </a:rPr>
                        <a:t>Native + TudoFarma route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414"/>
                          </a:solidFill>
                          <a:latin typeface="Arial"/>
                        </a:rPr>
                        <a:t>Nestlé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414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414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414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414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414"/>
                          </a:solidFill>
                          <a:latin typeface="Arial"/>
                        </a:rPr>
                        <a:t>Channel composition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46520"/>
            <a:ext cx="97840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696969"/>
                </a:solidFill>
                <a:latin typeface="Arial"/>
              </a:rPr>
              <a:t>Research page 6198329781 · Partner × Platform Coverage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696969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